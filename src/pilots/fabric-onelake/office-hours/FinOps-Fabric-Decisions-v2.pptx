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97680"/>
            <a:ext cx="12191695" cy="256032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FinOps Hubs on Microsoft Fabric / OneLake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CFE4F7"/>
                </a:solidFill>
                <a:latin typeface="Segoe UI"/>
              </a:rPr>
              <a:t>Four architectural decisions — ratified and implemented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>Supersedes: FinOps-Fabric-Decisions.pptx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>Status: pilot built on branch pilot/fabric-onelake — additive, no existing files changed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>Evidence: 33 Python + 10 Pester unit tests passing; Bicep compiles clean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>For discussion at FinOps toolkit office hours • 2026-06-05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FE4F7"/>
                </a:solidFill>
                <a:latin typeface="Segoe UI"/>
              </a:rPr>
              <a:t>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The problem this pilot solves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1F1F"/>
                </a:solidFill>
                <a:latin typeface="Segoe UI"/>
              </a:rPr>
              <a:t>The storage-based Power BI path slows down past ~$2–5M/month of spend.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1F1F"/>
                </a:solidFill>
                <a:latin typeface="Segoe UI"/>
              </a:rPr>
              <a:t>• Cost data lands as many small Parquet files that cannot be compacted or reorganized.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1F1F"/>
                </a:solidFill>
                <a:latin typeface="Segoe UI"/>
              </a:rPr>
              <a:t>• Query performance degrades as volume grows — the small-file problem.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1F1F"/>
                </a:solidFill>
                <a:latin typeface="Segoe UI"/>
              </a:rPr>
              <a:t>• There is no Microsoft Fabric / OneLake path that removes that ceiling today.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1F1F"/>
                </a:solidFill>
                <a:latin typeface="Segoe UI"/>
              </a:rPr>
              <a:t>• Goal: materialize the already-normalized FOCUS data as a managed Delta table in OneLake,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1F1F1F"/>
                </a:solidFill>
                <a:latin typeface="Segoe UI"/>
              </a:rPr>
              <a:t>– so it can be compacted daily and served fast to Power BI — without rewriting the toolkit.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77840"/>
            <a:ext cx="11064240" cy="82296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715000"/>
            <a:ext cx="10698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6CBD"/>
                </a:solidFill>
                <a:latin typeface="Segoe UI"/>
              </a:rPr>
              <a:t>Governing principle: every “if this breaks” case is a SILENT failure — so each contract is enforced by code that stops loudly, never asserted in a doc.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FE4F7"/>
                </a:solidFill>
                <a:latin typeface="Segoe UI"/>
              </a:rPr>
              <a:t>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The four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00" cy="2286000"/>
          </a:xfrm>
          <a:prstGeom prst="rect">
            <a:avLst/>
          </a:prstGeom>
          <a:solidFill>
            <a:srgbClr val="F2F6FA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09728" cy="2286000"/>
          </a:xfrm>
          <a:prstGeom prst="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6CBD"/>
                </a:solidFill>
                <a:latin typeface="Segoe UI"/>
              </a:rPr>
              <a:t>1  Schema ownership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49377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1F1F"/>
                </a:solidFill>
                <a:latin typeface="Segoe UI"/>
              </a:rPr>
              <a:t>KQL stays the single transform owner. The pilot validates FOCUS output against a contract — it does not re-implement normalization in Spark.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5486400" cy="2286000"/>
          </a:xfrm>
          <a:prstGeom prst="rect">
            <a:avLst/>
          </a:prstGeom>
          <a:solidFill>
            <a:srgbClr val="F2F6FA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109728" cy="2286000"/>
          </a:xfrm>
          <a:prstGeom prst="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55448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6CBD"/>
                </a:solidFill>
                <a:latin typeface="Segoe UI"/>
              </a:rPr>
              <a:t>2  Data into OneLake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148840"/>
            <a:ext cx="49377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1F1F"/>
                </a:solidFill>
                <a:latin typeface="Segoe UI"/>
              </a:rPr>
              <a:t>Managed Delta tables, not shortcuts. Only managed Delta can be compacted + Z-ordered to remove the cost ceiling.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31920"/>
            <a:ext cx="5486400" cy="2286000"/>
          </a:xfrm>
          <a:prstGeom prst="rect">
            <a:avLst/>
          </a:prstGeom>
          <a:solidFill>
            <a:srgbClr val="F2F6FA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931920"/>
            <a:ext cx="109728" cy="2286000"/>
          </a:xfrm>
          <a:prstGeom prst="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11480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6CBD"/>
                </a:solidFill>
                <a:latin typeface="Segoe UI"/>
              </a:rPr>
              <a:t>3  Orchestration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709160"/>
            <a:ext cx="49377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1F1F"/>
                </a:solidFill>
                <a:latin typeface="Segoe UI"/>
              </a:rPr>
              <a:t>Keep ADF (deploys via Bicep/ARM, works in locked-down tenants); it calls a Fabric notebook. Manual path proven first.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931920"/>
            <a:ext cx="5486400" cy="2286000"/>
          </a:xfrm>
          <a:prstGeom prst="rect">
            <a:avLst/>
          </a:prstGeom>
          <a:solidFill>
            <a:srgbClr val="F2F6FA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931920"/>
            <a:ext cx="109728" cy="2286000"/>
          </a:xfrm>
          <a:prstGeom prst="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411480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6CBD"/>
                </a:solidFill>
                <a:latin typeface="Segoe UI"/>
              </a:rPr>
              <a:t>4  Power BI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709160"/>
            <a:ext cx="49377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1F1F"/>
                </a:solidFill>
                <a:latin typeface="Segoe UI"/>
              </a:rPr>
              <a:t>SQL endpoint first; DirectLake is gated behind measurable checks over a full billing cycle — earned, not promised.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FE4F7"/>
                </a:solidFill>
                <a:latin typeface="Segoe UI"/>
              </a:rPr>
              <a:t>DECISION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Schema ownership — KQL stays the transform owner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6CBD"/>
                </a:solidFill>
                <a:latin typeface="Segoe UI"/>
              </a:rPr>
              <a:t>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417320"/>
            <a:ext cx="8961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Segoe UI"/>
              </a:rPr>
              <a:t>FOCUS is still moving from 1.0 to 1.2. Re-implementing normalization in Spark would mean maintaining the same logic in two languages — guaranteed drift.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6CBD"/>
                </a:solidFill>
                <a:latin typeface="Segoe UI"/>
              </a:rP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286000"/>
            <a:ext cx="8961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Segoe UI"/>
              </a:rPr>
              <a:t>The pilot reads the FOCUS data the toolkit already produces and only CHECKS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944368"/>
            <a:ext cx="8961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06060"/>
                </a:solidFill>
                <a:latin typeface="Segoe UI"/>
              </a:rPr>
              <a:t>– The schema contract references the existing open-data metadata file rather than copying columns (copying would create the drift it avoids).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3602736"/>
            <a:ext cx="8961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06060"/>
                </a:solidFill>
                <a:latin typeface="Segoe UI"/>
              </a:rPr>
              <a:t>– Notebook 01 fails the run on FOCUS-version drift, missing required columns, wrong types, or nulls in non-nullable columns.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solidFill>
            <a:srgbClr val="E7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925312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07C10"/>
                </a:solidFill>
                <a:latin typeface="Segoe UI"/>
              </a:rPr>
              <a:t>✓  Enforced by: focus-schema.contract.json + contract_validator.py (10 tests)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FE4F7"/>
                </a:solidFill>
                <a:latin typeface="Segoe UI"/>
              </a:rPr>
              <a:t>DECISION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Data into OneLake — managed Delta, not shortcuts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6CBD"/>
                </a:solidFill>
                <a:latin typeface="Segoe UI"/>
              </a:rPr>
              <a:t>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417320"/>
            <a:ext cx="8961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Segoe UI"/>
              </a:rPr>
              <a:t>Shortcuts inherit the same small-file problem and can't be compacted or Z-ordered — they don't remove the ceiling.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6CBD"/>
                </a:solidFill>
                <a:latin typeface="Segoe UI"/>
              </a:rP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286000"/>
            <a:ext cx="8961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Segoe UI"/>
              </a:rPr>
              <a:t>Notebook 02 writes a managed Delta table partitioned by charge-month; notebook 03 compacts daily.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3154680"/>
            <a:ext cx="8961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06060"/>
                </a:solidFill>
                <a:latin typeface="Segoe UI"/>
              </a:rPr>
              <a:t>– Compaction is treated as a MONITORED SLA: it emits before/after file counts and sizes for alerting.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3813048"/>
            <a:ext cx="8961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06060"/>
                </a:solidFill>
                <a:latin typeface="Segoe UI"/>
              </a:rPr>
              <a:t>– A stale or fragmented table fails loudly instead of silently slowing queries.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solidFill>
            <a:srgbClr val="E7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925312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07C10"/>
                </a:solidFill>
                <a:latin typeface="Segoe UI"/>
              </a:rPr>
              <a:t>✓  Enforced by: storage-layout.contract.json + compaction SLA checks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FE4F7"/>
                </a:solidFill>
                <a:latin typeface="Segoe UI"/>
              </a:rPr>
              <a:t>DECISION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Orchestration — ADF stays, calls a Fabric notebook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6CBD"/>
                </a:solidFill>
                <a:latin typeface="Segoe UI"/>
              </a:rPr>
              <a:t>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417320"/>
            <a:ext cx="8961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Segoe UI"/>
              </a:rPr>
              <a:t>ADF deploys via Bicep/ARM and runs in restricted / air-gapped tenants where Fabric pipelines cannot. Replacing it would exclude the tenants that care most.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6CBD"/>
                </a:solidFill>
                <a:latin typeface="Segoe UI"/>
              </a:rP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286000"/>
            <a:ext cx="8961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Segoe UI"/>
              </a:rPr>
              <a:t>A new ADF pipeline hands off to a Fabric Spark notebook via the Fabric REST API and waits, failing loudly on any non-success.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3154680"/>
            <a:ext cx="8961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06060"/>
                </a:solidFill>
                <a:latin typeface="Segoe UI"/>
              </a:rPr>
              <a:t>– The MANUAL setup path was built and tested first; the REST provisioner is an idempotent convenience on top of a known-good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solidFill>
            <a:srgbClr val="E7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925312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07C10"/>
                </a:solidFill>
                <a:latin typeface="Segoe UI"/>
              </a:rPr>
              <a:t>✓  Enforced by: notebook-activity.bicep (compiles) + Initialize-PilotFabric.ps1 (-WhatIf)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FE4F7"/>
                </a:solidFill>
                <a:latin typeface="Segoe UI"/>
              </a:rPr>
              <a:t>DECISION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Power BI — SQL endpoint first, DirectLake 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6CBD"/>
                </a:solidFill>
                <a:latin typeface="Segoe UI"/>
              </a:rPr>
              <a:t>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417320"/>
            <a:ext cx="8961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Segoe UI"/>
              </a:rPr>
              <a:t>DirectLake can silently fall back to DirectQuery (10–50× slower, no error) — discovered by end users in production.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6CBD"/>
                </a:solidFill>
                <a:latin typeface="Segoe UI"/>
              </a:rP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286000"/>
            <a:ext cx="8961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Segoe UI"/>
              </a:rPr>
              <a:t>Power BI starts on the plain SQL endpoint: immediate value, any license, layout-insensitive.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944368"/>
            <a:ext cx="8961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06060"/>
                </a:solidFill>
                <a:latin typeface="Segoe UI"/>
              </a:rPr>
              <a:t>– It is a one-line source swap — every existing visual, measure, and relationship is reused verbatim.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3602736"/>
            <a:ext cx="8961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06060"/>
                </a:solidFill>
                <a:latin typeface="Segoe UI"/>
              </a:rPr>
              <a:t>– A readiness gate + a full-billing-cycle promotion check are the ONLY things that authorize DirectLake.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solidFill>
            <a:srgbClr val="E7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925312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07C10"/>
                </a:solidFill>
                <a:latin typeface="Segoe UI"/>
              </a:rPr>
              <a:t>✓  Enforced by: readiness gate (notebook 04) + promotion check (notebook 05)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FE4F7"/>
                </a:solidFill>
                <a:latin typeface="Segoe UI"/>
              </a:rPr>
              <a:t>WHAT WAS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End-to-end flow (all additive, in src/pilots/fabric-onelake/)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1451" y="2377440"/>
            <a:ext cx="1417320" cy="1097280"/>
          </a:xfrm>
          <a:prstGeom prst="rect">
            <a:avLst/>
          </a:prstGeom>
          <a:solidFill>
            <a:srgbClr val="F2F6FA"/>
          </a:solidFill>
          <a:ln w="12700">
            <a:solidFill>
              <a:srgbClr val="0F6C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1451" y="2377440"/>
            <a:ext cx="14173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F1F1F"/>
                </a:solidFill>
                <a:latin typeface="Segoe UI"/>
              </a:rPr>
              <a:t>Cost Mgmt</a:t>
            </a:r>
          </a:p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F1F1F"/>
                </a:solidFill>
                <a:latin typeface="Segoe UI"/>
              </a:rPr>
              <a:t>export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40483" y="2697480"/>
            <a:ext cx="256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606060"/>
                </a:solidFill>
                <a:latin typeface="Segoe U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223363" y="2377440"/>
            <a:ext cx="1417320" cy="1097280"/>
          </a:xfrm>
          <a:prstGeom prst="rect">
            <a:avLst/>
          </a:prstGeom>
          <a:solidFill>
            <a:srgbClr val="F2F6FA"/>
          </a:solidFill>
          <a:ln w="12700">
            <a:solidFill>
              <a:srgbClr val="0F6C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23363" y="2377440"/>
            <a:ext cx="14173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F1F1F"/>
                </a:solidFill>
                <a:latin typeface="Segoe UI"/>
              </a:rPr>
              <a:t>ADF</a:t>
            </a:r>
          </a:p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F1F1F"/>
                </a:solidFill>
                <a:latin typeface="Segoe UI"/>
              </a:rPr>
              <a:t>orchestrator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2395" y="2697480"/>
            <a:ext cx="256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606060"/>
                </a:solidFill>
                <a:latin typeface="Segoe U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05275" y="2377440"/>
            <a:ext cx="1417320" cy="1097280"/>
          </a:xfrm>
          <a:prstGeom prst="rect">
            <a:avLst/>
          </a:prstGeom>
          <a:solidFill>
            <a:srgbClr val="F2F6FA"/>
          </a:solidFill>
          <a:ln w="12700">
            <a:solidFill>
              <a:srgbClr val="107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05275" y="2377440"/>
            <a:ext cx="14173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F1F1F"/>
                </a:solidFill>
                <a:latin typeface="Segoe UI"/>
              </a:rPr>
              <a:t>Fabric notebook</a:t>
            </a:r>
          </a:p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F1F1F"/>
                </a:solidFill>
                <a:latin typeface="Segoe UI"/>
              </a:rPr>
              <a:t>01 validate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04307" y="2697480"/>
            <a:ext cx="256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606060"/>
                </a:solidFill>
                <a:latin typeface="Segoe U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87187" y="2377440"/>
            <a:ext cx="1417320" cy="1097280"/>
          </a:xfrm>
          <a:prstGeom prst="rect">
            <a:avLst/>
          </a:prstGeom>
          <a:solidFill>
            <a:srgbClr val="F2F6FA"/>
          </a:solidFill>
          <a:ln w="12700">
            <a:solidFill>
              <a:srgbClr val="107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87187" y="2377440"/>
            <a:ext cx="14173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F1F1F"/>
                </a:solidFill>
                <a:latin typeface="Segoe UI"/>
              </a:rPr>
              <a:t>02 write</a:t>
            </a:r>
          </a:p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F1F1F"/>
                </a:solidFill>
                <a:latin typeface="Segoe UI"/>
              </a:rPr>
              <a:t>Delta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6219" y="2697480"/>
            <a:ext cx="256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606060"/>
                </a:solidFill>
                <a:latin typeface="Segoe U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69099" y="2377440"/>
            <a:ext cx="1417320" cy="1097280"/>
          </a:xfrm>
          <a:prstGeom prst="rect">
            <a:avLst/>
          </a:prstGeom>
          <a:solidFill>
            <a:srgbClr val="F2F6FA"/>
          </a:solidFill>
          <a:ln w="12700">
            <a:solidFill>
              <a:srgbClr val="107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69099" y="2377440"/>
            <a:ext cx="14173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F1F1F"/>
                </a:solidFill>
                <a:latin typeface="Segoe UI"/>
              </a:rPr>
              <a:t>03 compact</a:t>
            </a:r>
          </a:p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F1F1F"/>
                </a:solidFill>
                <a:latin typeface="Segoe UI"/>
              </a:rPr>
              <a:t>+ metrics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8131" y="2697480"/>
            <a:ext cx="256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606060"/>
                </a:solidFill>
                <a:latin typeface="Segoe U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51011" y="2377440"/>
            <a:ext cx="1417320" cy="1097280"/>
          </a:xfrm>
          <a:prstGeom prst="rect">
            <a:avLst/>
          </a:prstGeom>
          <a:solidFill>
            <a:srgbClr val="F2F6FA"/>
          </a:solidFill>
          <a:ln w="12700">
            <a:solidFill>
              <a:srgbClr val="107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51011" y="2377440"/>
            <a:ext cx="14173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F1F1F"/>
                </a:solidFill>
                <a:latin typeface="Segoe UI"/>
              </a:rPr>
              <a:t>04 readiness</a:t>
            </a:r>
          </a:p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F1F1F"/>
                </a:solidFill>
                <a:latin typeface="Segoe UI"/>
              </a:rPr>
              <a:t>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50043" y="2697480"/>
            <a:ext cx="256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606060"/>
                </a:solidFill>
                <a:latin typeface="Segoe U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32923" y="2377440"/>
            <a:ext cx="1417320" cy="1097280"/>
          </a:xfrm>
          <a:prstGeom prst="rect">
            <a:avLst/>
          </a:prstGeom>
          <a:solidFill>
            <a:srgbClr val="F2F6FA"/>
          </a:solidFill>
          <a:ln w="12700">
            <a:solidFill>
              <a:srgbClr val="107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32923" y="2377440"/>
            <a:ext cx="14173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F1F1F"/>
                </a:solidFill>
                <a:latin typeface="Segoe UI"/>
              </a:rPr>
              <a:t>Power BI</a:t>
            </a:r>
          </a:p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F1F1F"/>
                </a:solidFill>
                <a:latin typeface="Segoe UI"/>
              </a:rPr>
              <a:t>SQL endpoint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06060"/>
                </a:solidFill>
                <a:latin typeface="Segoe UI"/>
              </a:rPr>
              <a:t>Then 05 promotion: after a full billing cycle, the accumulated readiness history — not a judgment call — authorizes DirectLake.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66344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1F1F"/>
                </a:solidFill>
                <a:latin typeface="Segoe UI"/>
              </a:rPr>
              <a:t>• Blue = unchanged existing toolkit surface.   Green = new pilot code.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1F1F"/>
                </a:solidFill>
                <a:latin typeface="Segoe UI"/>
              </a:rPr>
              <a:t>• Nothing in the existing hub, template, or report is modified — the pilot lives beside them.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FE4F7"/>
                </a:solidFill>
                <a:latin typeface="Segoe UI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How it's validated today — and what's left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07C10"/>
                </a:solidFill>
                <a:latin typeface="Segoe UI"/>
              </a:rPr>
              <a:t>Proven now (logic)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1F1F"/>
                </a:solidFill>
                <a:latin typeface="Segoe UI"/>
              </a:rPr>
              <a:t>• 33 Python unit tests: schema/null/version enforcement, compaction-SLA math, readiness + promotion logic.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1F1F"/>
                </a:solidFill>
                <a:latin typeface="Segoe UI"/>
              </a:rPr>
              <a:t>• 10 Pester tests: deployment-parameter validation + fail-loud preflight.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1F1F"/>
                </a:solidFill>
                <a:latin typeface="Segoe UI"/>
              </a:rPr>
              <a:t>• az bicep build: the ADF→Fabric pipeline compiles.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1F1F"/>
                </a:solidFill>
                <a:latin typeface="Segoe UI"/>
              </a:rPr>
              <a:t>• Sufficient for an office-hours design discussion.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32588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6CBD"/>
                </a:solidFill>
                <a:latin typeface="Segoe UI"/>
              </a:rPr>
              <a:t>Homework (needs live capacity)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394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1F1F"/>
                </a:solidFill>
                <a:latin typeface="Segoe UI"/>
              </a:rPr>
              <a:t>• Run the repo lint task for house-style parity.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1F1F"/>
                </a:solidFill>
                <a:latin typeface="Segoe UI"/>
              </a:rPr>
              <a:t>• One small live end-to-end run on a Fabric Lakehouse.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1F1F"/>
                </a:solidFill>
                <a:latin typeface="Segoe UI"/>
              </a:rPr>
              <a:t>• Before/after query-time proof at $2–5M scale (the headline claim).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1F1F"/>
                </a:solidFill>
                <a:latin typeface="Segoe UI"/>
              </a:rPr>
              <a:t>• Confirm/revise provisional Z-order from real query filters.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Discussion / asks for 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>
                <a:solidFill>
                  <a:srgbClr val="FFFFFF"/>
                </a:solidFill>
                <a:latin typeface="Segoe UI"/>
              </a:rPr>
              <a:t>• Is src/pilots/ an acceptable home for exploratory work, or do you prefer a Microsoft.Fabric namespace module from the start?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FFFFFF"/>
                </a:solidFill>
                <a:latin typeface="Segoe UI"/>
              </a:rPr>
              <a:t>• Is there a sanctioned Fabric test capacity a pilot could use for the live end-to-end run?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FFFFFF"/>
                </a:solidFill>
                <a:latin typeface="Segoe UI"/>
              </a:rPr>
              <a:t>• Does “KQL stays the single transform owner” align with your Fabric roadmap, or is a Spark-native transform planned (which would change Decision 1)?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FFFFFF"/>
                </a:solidFill>
                <a:latin typeface="Segoe UI"/>
              </a:rPr>
              <a:t>• Should the schema contract point at the open-data metadata (as built) or a future published schema artifact?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